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203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4"/>
          </a:solidFill>
          <a:ln>
            <a:solidFill>
              <a:srgbClr val="193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defRPr sz="4000" b="1">
                <a:solidFill>
                  <a:srgbClr val="FFFFFF"/>
                </a:solidFill>
              </a:defRPr>
            </a:pPr>
            <a:r>
              <a:rPr sz="3600" dirty="0"/>
              <a:t>The Problem: Architectural Drift in AI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2C3E50"/>
                </a:solidFill>
              </a:defRPr>
            </a:pPr>
            <a:r>
              <a:rPr dirty="0"/>
              <a:t>Modern AI generates working code, but often violates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19753" y="1584672"/>
            <a:ext cx="4206240" cy="2560320"/>
          </a:xfrm>
          <a:prstGeom prst="rect">
            <a:avLst/>
          </a:prstGeom>
          <a:solidFill>
            <a:srgbClr val="FFF5F5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t"/>
          <a:lstStyle/>
          <a:p>
            <a:pPr algn="ctr">
              <a:defRPr sz="1600" b="1">
                <a:solidFill>
                  <a:srgbClr val="C0392B"/>
                </a:solidFill>
              </a:defRPr>
            </a:pPr>
            <a:r>
              <a:rPr sz="1000" dirty="0">
                <a:solidFill>
                  <a:schemeClr val="tx1"/>
                </a:solidFill>
              </a:rPr>
              <a:t>The Issue:</a:t>
            </a:r>
          </a:p>
          <a:p>
            <a:br>
              <a:rPr sz="1000" dirty="0">
                <a:solidFill>
                  <a:schemeClr val="tx1"/>
                </a:solidFill>
              </a:rPr>
            </a:br>
            <a:r>
              <a:rPr sz="1200" dirty="0">
                <a:solidFill>
                  <a:schemeClr val="tx1"/>
                </a:solidFill>
              </a:rPr>
              <a:t>AI generates code that works but violates architectural rules:</a:t>
            </a:r>
            <a:br>
              <a:rPr sz="1200" dirty="0">
                <a:solidFill>
                  <a:schemeClr val="tx1"/>
                </a:solidFill>
              </a:rPr>
            </a:br>
            <a:br>
              <a:rPr sz="1200" dirty="0">
                <a:solidFill>
                  <a:schemeClr val="tx1"/>
                </a:solidFill>
              </a:rPr>
            </a:br>
            <a:r>
              <a:rPr sz="1200" dirty="0">
                <a:solidFill>
                  <a:schemeClr val="tx1"/>
                </a:solidFill>
              </a:rPr>
              <a:t>• UI Layer calling Database directly (bypasses Service Layer)</a:t>
            </a:r>
            <a:br>
              <a:rPr sz="1200" dirty="0">
                <a:solidFill>
                  <a:schemeClr val="tx1"/>
                </a:solidFill>
              </a:rPr>
            </a:br>
            <a:r>
              <a:rPr sz="1200" dirty="0">
                <a:solidFill>
                  <a:schemeClr val="tx1"/>
                </a:solidFill>
              </a:rPr>
              <a:t>• Circular dependencies emerging</a:t>
            </a:r>
            <a:br>
              <a:rPr sz="1200" dirty="0">
                <a:solidFill>
                  <a:schemeClr val="tx1"/>
                </a:solidFill>
              </a:rPr>
            </a:br>
            <a:r>
              <a:rPr sz="1200" dirty="0">
                <a:solidFill>
                  <a:schemeClr val="tx1"/>
                </a:solidFill>
              </a:rPr>
              <a:t>• Service boundaries violated</a:t>
            </a:r>
            <a:br>
              <a:rPr sz="1200" dirty="0">
                <a:solidFill>
                  <a:schemeClr val="tx1"/>
                </a:solidFill>
              </a:rPr>
            </a:br>
            <a:br>
              <a:rPr sz="1200" dirty="0">
                <a:solidFill>
                  <a:schemeClr val="tx1"/>
                </a:solidFill>
              </a:rPr>
            </a:br>
            <a:r>
              <a:rPr sz="1200" dirty="0">
                <a:solidFill>
                  <a:schemeClr val="tx1"/>
                </a:solidFill>
              </a:rPr>
              <a:t>Traditional linters miss semantic violations.</a:t>
            </a:r>
            <a:br>
              <a:rPr sz="1200" dirty="0">
                <a:solidFill>
                  <a:schemeClr val="tx1"/>
                </a:solidFill>
              </a:rPr>
            </a:br>
            <a:br>
              <a:rPr sz="1200" dirty="0">
                <a:solidFill>
                  <a:schemeClr val="tx1"/>
                </a:solidFill>
              </a:rPr>
            </a:br>
            <a:r>
              <a:rPr sz="1200" dirty="0">
                <a:solidFill>
                  <a:schemeClr val="tx1"/>
                </a:solidFill>
              </a:rPr>
              <a:t>You need architecture-aware code analysis.</a:t>
            </a:r>
            <a:endParaRPr sz="10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754880" y="1554480"/>
            <a:ext cx="4023360" cy="2560320"/>
          </a:xfrm>
          <a:prstGeom prst="rect">
            <a:avLst/>
          </a:prstGeom>
          <a:solidFill>
            <a:srgbClr val="F0FFF0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t"/>
          <a:lstStyle/>
          <a:p>
            <a:pPr algn="ctr">
              <a:defRPr sz="1600" b="1">
                <a:solidFill>
                  <a:srgbClr val="27AE60"/>
                </a:solidFill>
              </a:defRPr>
            </a:pPr>
            <a:r>
              <a:rPr sz="1200" dirty="0" err="1">
                <a:solidFill>
                  <a:schemeClr val="tx1"/>
                </a:solidFill>
              </a:rPr>
              <a:t>ArchGuard</a:t>
            </a:r>
            <a:r>
              <a:rPr sz="1200" dirty="0">
                <a:solidFill>
                  <a:schemeClr val="tx1"/>
                </a:solidFill>
              </a:rPr>
              <a:t> Solution:</a:t>
            </a:r>
          </a:p>
          <a:p>
            <a:br>
              <a:rPr sz="1200" dirty="0">
                <a:solidFill>
                  <a:schemeClr val="tx1"/>
                </a:solidFill>
              </a:rPr>
            </a:br>
            <a:r>
              <a:rPr sz="1200" dirty="0">
                <a:solidFill>
                  <a:schemeClr val="tx1"/>
                </a:solidFill>
              </a:rPr>
              <a:t>A 4-phase neuro-symbolic referee that:</a:t>
            </a:r>
            <a:br>
              <a:rPr sz="1200" dirty="0">
                <a:solidFill>
                  <a:schemeClr val="tx1"/>
                </a:solidFill>
              </a:rPr>
            </a:br>
            <a:br>
              <a:rPr sz="1200" dirty="0">
                <a:solidFill>
                  <a:schemeClr val="tx1"/>
                </a:solidFill>
              </a:rPr>
            </a:br>
            <a:r>
              <a:rPr sz="1200" dirty="0">
                <a:solidFill>
                  <a:schemeClr val="tx1"/>
                </a:solidFill>
              </a:rPr>
              <a:t>✓ Reads your architectural rules (</a:t>
            </a:r>
            <a:r>
              <a:rPr sz="1200" dirty="0" err="1">
                <a:solidFill>
                  <a:schemeClr val="tx1"/>
                </a:solidFill>
              </a:rPr>
              <a:t>PlantUML</a:t>
            </a:r>
            <a:r>
              <a:rPr sz="1200" dirty="0">
                <a:solidFill>
                  <a:schemeClr val="tx1"/>
                </a:solidFill>
              </a:rPr>
              <a:t>)</a:t>
            </a:r>
            <a:br>
              <a:rPr sz="1200" dirty="0">
                <a:solidFill>
                  <a:schemeClr val="tx1"/>
                </a:solidFill>
              </a:rPr>
            </a:br>
            <a:r>
              <a:rPr sz="1200" dirty="0">
                <a:solidFill>
                  <a:schemeClr val="tx1"/>
                </a:solidFill>
              </a:rPr>
              <a:t>✓ Analyzes your actual code (Python AST)</a:t>
            </a:r>
            <a:br>
              <a:rPr sz="1200" dirty="0">
                <a:solidFill>
                  <a:schemeClr val="tx1"/>
                </a:solidFill>
              </a:rPr>
            </a:br>
            <a:r>
              <a:rPr sz="1200" dirty="0">
                <a:solidFill>
                  <a:schemeClr val="tx1"/>
                </a:solidFill>
              </a:rPr>
              <a:t>✓ Detects violations (graph comparison)</a:t>
            </a:r>
            <a:br>
              <a:rPr sz="1200" dirty="0">
                <a:solidFill>
                  <a:schemeClr val="tx1"/>
                </a:solidFill>
              </a:rPr>
            </a:br>
            <a:r>
              <a:rPr sz="1200" dirty="0">
                <a:solidFill>
                  <a:schemeClr val="tx1"/>
                </a:solidFill>
              </a:rPr>
              <a:t>✓ Explains violations (Gemini AI)</a:t>
            </a:r>
            <a:br>
              <a:rPr sz="1200" dirty="0">
                <a:solidFill>
                  <a:schemeClr val="tx1"/>
                </a:solidFill>
              </a:rPr>
            </a:br>
            <a:br>
              <a:rPr sz="1200" dirty="0">
                <a:solidFill>
                  <a:schemeClr val="tx1"/>
                </a:solidFill>
              </a:rPr>
            </a:br>
            <a:r>
              <a:rPr sz="1200" dirty="0">
                <a:solidFill>
                  <a:schemeClr val="tx1"/>
                </a:solidFill>
              </a:rPr>
              <a:t>248/250 tests passing (99.2%)</a:t>
            </a:r>
            <a:br>
              <a:rPr sz="1200" dirty="0">
                <a:solidFill>
                  <a:schemeClr val="tx1"/>
                </a:solidFill>
              </a:rPr>
            </a:br>
            <a:r>
              <a:rPr sz="1200" dirty="0">
                <a:solidFill>
                  <a:schemeClr val="tx1"/>
                </a:solidFill>
              </a:rPr>
              <a:t>Production-ready for phases 1-3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297680"/>
            <a:ext cx="182880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980B9"/>
                </a:solidFill>
              </a:defRPr>
            </a:pPr>
            <a:r>
              <a:rPr dirty="0"/>
              <a:t>Phase 1</a:t>
            </a:r>
            <a:br>
              <a:rPr dirty="0"/>
            </a:br>
            <a:r>
              <a:rPr dirty="0"/>
              <a:t>Symbolic</a:t>
            </a:r>
            <a:br>
              <a:rPr dirty="0"/>
            </a:br>
            <a:r>
              <a:rPr dirty="0"/>
              <a:t>Brain</a:t>
            </a:r>
          </a:p>
          <a:p>
            <a:br>
              <a:rPr dirty="0"/>
            </a:br>
            <a:r>
              <a:rPr dirty="0"/>
              <a:t>Rules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4297680"/>
            <a:ext cx="182880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980B9"/>
                </a:solidFill>
              </a:defRPr>
            </a:pPr>
            <a:r>
              <a:rPr dirty="0"/>
              <a:t>Phase 2</a:t>
            </a:r>
            <a:br>
              <a:rPr dirty="0"/>
            </a:br>
            <a:r>
              <a:rPr dirty="0"/>
              <a:t>Code</a:t>
            </a:r>
            <a:br>
              <a:rPr dirty="0"/>
            </a:br>
            <a:r>
              <a:rPr dirty="0"/>
              <a:t>Abstraction</a:t>
            </a:r>
          </a:p>
          <a:p>
            <a:br>
              <a:rPr dirty="0"/>
            </a:br>
            <a:r>
              <a:rPr dirty="0"/>
              <a:t>Reality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4297680"/>
            <a:ext cx="182880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980B9"/>
                </a:solidFill>
              </a:defRPr>
            </a:pPr>
            <a:r>
              <a:t>Phase 3</a:t>
            </a:r>
            <a:br/>
            <a:r>
              <a:t>Logic</a:t>
            </a:r>
            <a:br/>
            <a:r>
              <a:t>Engine</a:t>
            </a:r>
          </a:p>
          <a:p>
            <a:br/>
            <a:r>
              <a:t>Compare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4297680"/>
            <a:ext cx="182880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9B59B6"/>
                </a:solidFill>
              </a:defRPr>
            </a:pPr>
            <a:r>
              <a:rPr dirty="0"/>
              <a:t>Phase 4</a:t>
            </a:r>
            <a:br>
              <a:rPr dirty="0"/>
            </a:br>
            <a:r>
              <a:rPr dirty="0"/>
              <a:t>Neuro-</a:t>
            </a:r>
            <a:br>
              <a:rPr dirty="0"/>
            </a:br>
            <a:r>
              <a:rPr dirty="0"/>
              <a:t>Symbolic</a:t>
            </a:r>
          </a:p>
          <a:p>
            <a:br>
              <a:rPr dirty="0"/>
            </a:br>
            <a:r>
              <a:rPr dirty="0"/>
              <a:t>Explain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4"/>
          </a:solidFill>
          <a:ln>
            <a:solidFill>
              <a:srgbClr val="193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defRPr sz="4000" b="1">
                <a:solidFill>
                  <a:srgbClr val="FFFFFF"/>
                </a:solidFill>
              </a:defRPr>
            </a:pPr>
            <a:r>
              <a:t>4-Phase Technical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1005840"/>
            <a:ext cx="4389120" cy="1234440"/>
          </a:xfrm>
          <a:prstGeom prst="rect">
            <a:avLst/>
          </a:prstGeom>
          <a:solidFill>
            <a:srgbClr val="F0FAFF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100" b="1">
                <a:solidFill>
                  <a:srgbClr val="2980B9"/>
                </a:solidFill>
              </a:defRPr>
            </a:pPr>
            <a:r>
              <a:t>Phase 1: Symbolic Brain (PlantUML → Rules)</a:t>
            </a:r>
          </a:p>
          <a:p>
            <a:pPr>
              <a:spcBef>
                <a:spcPts val="300"/>
              </a:spcBef>
              <a:defRPr sz="1000">
                <a:solidFill>
                  <a:srgbClr val="2C3E50"/>
                </a:solidFill>
              </a:defRPr>
            </a:pPr>
            <a:r>
              <a:t>Parses architecture specification. Extracts layers, classes, and allowed edges. Builds NetworkX graph as 'source of truth'.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2377440"/>
            <a:ext cx="4389120" cy="1234440"/>
          </a:xfrm>
          <a:prstGeom prst="rect">
            <a:avLst/>
          </a:prstGeom>
          <a:solidFill>
            <a:srgbClr val="F0FAFF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100" b="1">
                <a:solidFill>
                  <a:srgbClr val="2980B9"/>
                </a:solidFill>
              </a:defRPr>
            </a:pPr>
            <a:r>
              <a:t>Phase 2: Code Abstraction (Python → Reality)</a:t>
            </a:r>
          </a:p>
          <a:p>
            <a:pPr>
              <a:spcBef>
                <a:spcPts val="300"/>
              </a:spcBef>
              <a:defRPr sz="1000">
                <a:solidFill>
                  <a:srgbClr val="2C3E50"/>
                </a:solidFill>
              </a:defRPr>
            </a:pPr>
            <a:r>
              <a:t>Extracts actual code facts using Python AST parser. Identifies all classes and method-to-method calls. Builds implementation graph.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3749039"/>
            <a:ext cx="4389120" cy="1234440"/>
          </a:xfrm>
          <a:prstGeom prst="rect">
            <a:avLst/>
          </a:prstGeom>
          <a:solidFill>
            <a:srgbClr val="F0FAFF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100" b="1">
                <a:solidFill>
                  <a:srgbClr val="2980B9"/>
                </a:solidFill>
              </a:defRPr>
            </a:pPr>
            <a:r>
              <a:t>Phase 3: Logic Engine (Compare → Violations)</a:t>
            </a:r>
          </a:p>
          <a:p>
            <a:pPr>
              <a:spcBef>
                <a:spcPts val="300"/>
              </a:spcBef>
              <a:defRPr sz="1000">
                <a:solidFill>
                  <a:srgbClr val="2C3E50"/>
                </a:solidFill>
              </a:defRPr>
            </a:pPr>
            <a:r>
              <a:t>Compares two graphs. Detects direct violations (edges in code not in architecture) and transitive violations (disallowed paths).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5120640"/>
            <a:ext cx="4389120" cy="1234440"/>
          </a:xfrm>
          <a:prstGeom prst="rect">
            <a:avLst/>
          </a:prstGeom>
          <a:solidFill>
            <a:srgbClr val="FAF5FF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100" b="1">
                <a:solidFill>
                  <a:srgbClr val="9B59B6"/>
                </a:solidFill>
              </a:defRPr>
            </a:pPr>
            <a:r>
              <a:t>Phase 4: Neuro-Symbolic (Gemini → Explanations)</a:t>
            </a:r>
          </a:p>
          <a:p>
            <a:pPr>
              <a:spcBef>
                <a:spcPts val="300"/>
              </a:spcBef>
              <a:defRPr sz="1000">
                <a:solidFill>
                  <a:srgbClr val="2C3E50"/>
                </a:solidFill>
              </a:defRPr>
            </a:pPr>
            <a:r>
              <a:t>Sends violations to Google Gemini API. Receives natural language explanations and code fix suggestions.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005840"/>
            <a:ext cx="4023360" cy="2103120"/>
          </a:xfrm>
          <a:prstGeom prst="rect">
            <a:avLst/>
          </a:prstGeom>
          <a:solidFill>
            <a:srgbClr val="F0FFF0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t"/>
          <a:lstStyle/>
          <a:p>
            <a:pPr algn="ctr">
              <a:defRPr sz="1300" b="1">
                <a:solidFill>
                  <a:srgbClr val="27AE60"/>
                </a:solidFill>
              </a:defRPr>
            </a:pPr>
            <a:r>
              <a:rPr dirty="0">
                <a:solidFill>
                  <a:schemeClr val="tx1"/>
                </a:solidFill>
              </a:rPr>
              <a:t>Implementation Status</a:t>
            </a:r>
          </a:p>
          <a:p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Phase 1: 103 tests ✓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Phase 2: 94 tests ✓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Phase 3: 51/53 tests ✓</a:t>
            </a:r>
            <a:br>
              <a:rPr dirty="0">
                <a:solidFill>
                  <a:schemeClr val="tx1"/>
                </a:solidFill>
              </a:rPr>
            </a:b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Total: 248/250 (99.2%)</a:t>
            </a:r>
            <a:br>
              <a:rPr dirty="0">
                <a:solidFill>
                  <a:schemeClr val="tx1"/>
                </a:solidFill>
              </a:rPr>
            </a:b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Production Ready Phases 1-3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3291840"/>
            <a:ext cx="4023360" cy="3017520"/>
          </a:xfrm>
          <a:prstGeom prst="rect">
            <a:avLst/>
          </a:prstGeom>
          <a:solidFill>
            <a:srgbClr val="F5FAFF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>
              <a:defRPr sz="1300" b="1">
                <a:solidFill>
                  <a:srgbClr val="2980B9"/>
                </a:solidFill>
              </a:defRPr>
            </a:pPr>
            <a:r>
              <a:rPr sz="1100" dirty="0">
                <a:solidFill>
                  <a:schemeClr val="tx1"/>
                </a:solidFill>
              </a:rPr>
              <a:t>Technology Stack</a:t>
            </a:r>
          </a:p>
          <a:p>
            <a:br>
              <a:rPr sz="1400" dirty="0">
                <a:solidFill>
                  <a:schemeClr val="tx1"/>
                </a:solidFill>
              </a:rPr>
            </a:br>
            <a:r>
              <a:rPr sz="1400" dirty="0">
                <a:solidFill>
                  <a:schemeClr val="tx1"/>
                </a:solidFill>
              </a:rPr>
              <a:t>Language: Python 3.10+</a:t>
            </a:r>
            <a:br>
              <a:rPr sz="1400" dirty="0">
                <a:solidFill>
                  <a:schemeClr val="tx1"/>
                </a:solidFill>
              </a:rPr>
            </a:br>
            <a:r>
              <a:rPr sz="1400" dirty="0">
                <a:solidFill>
                  <a:schemeClr val="tx1"/>
                </a:solidFill>
              </a:rPr>
              <a:t>Graph Engine: </a:t>
            </a:r>
            <a:r>
              <a:rPr sz="1400" dirty="0" err="1">
                <a:solidFill>
                  <a:schemeClr val="tx1"/>
                </a:solidFill>
              </a:rPr>
              <a:t>NetworkX</a:t>
            </a:r>
            <a:br>
              <a:rPr sz="1400" dirty="0">
                <a:solidFill>
                  <a:schemeClr val="tx1"/>
                </a:solidFill>
              </a:rPr>
            </a:br>
            <a:r>
              <a:rPr sz="1400" dirty="0">
                <a:solidFill>
                  <a:schemeClr val="tx1"/>
                </a:solidFill>
              </a:rPr>
              <a:t>Parsing: Python AST</a:t>
            </a:r>
            <a:br>
              <a:rPr sz="1400" dirty="0">
                <a:solidFill>
                  <a:schemeClr val="tx1"/>
                </a:solidFill>
              </a:rPr>
            </a:br>
            <a:r>
              <a:rPr sz="1400" dirty="0">
                <a:solidFill>
                  <a:schemeClr val="tx1"/>
                </a:solidFill>
              </a:rPr>
              <a:t>LLM: Google Gemini</a:t>
            </a:r>
            <a:br>
              <a:rPr sz="1400" dirty="0">
                <a:solidFill>
                  <a:schemeClr val="tx1"/>
                </a:solidFill>
              </a:rPr>
            </a:br>
            <a:r>
              <a:rPr sz="1400" dirty="0">
                <a:solidFill>
                  <a:schemeClr val="tx1"/>
                </a:solidFill>
              </a:rPr>
              <a:t>Testing: </a:t>
            </a:r>
            <a:r>
              <a:rPr sz="1400" dirty="0" err="1">
                <a:solidFill>
                  <a:schemeClr val="tx1"/>
                </a:solidFill>
              </a:rPr>
              <a:t>pytest</a:t>
            </a:r>
            <a:r>
              <a:rPr sz="1400" dirty="0">
                <a:solidFill>
                  <a:schemeClr val="tx1"/>
                </a:solidFill>
              </a:rPr>
              <a:t> (248+ tests)</a:t>
            </a:r>
            <a:br>
              <a:rPr sz="1400" dirty="0">
                <a:solidFill>
                  <a:schemeClr val="tx1"/>
                </a:solidFill>
              </a:rPr>
            </a:br>
            <a:br>
              <a:rPr sz="1400" dirty="0">
                <a:solidFill>
                  <a:schemeClr val="tx1"/>
                </a:solidFill>
              </a:rPr>
            </a:br>
            <a:r>
              <a:rPr sz="1400" dirty="0">
                <a:solidFill>
                  <a:schemeClr val="tx1"/>
                </a:solidFill>
              </a:rPr>
              <a:t>Key Principles:</a:t>
            </a:r>
            <a:br>
              <a:rPr sz="1400" dirty="0">
                <a:solidFill>
                  <a:schemeClr val="tx1"/>
                </a:solidFill>
              </a:rPr>
            </a:br>
            <a:r>
              <a:rPr sz="1400" dirty="0">
                <a:solidFill>
                  <a:schemeClr val="tx1"/>
                </a:solidFill>
              </a:rPr>
              <a:t>• Type-Safe (full hints)</a:t>
            </a:r>
            <a:br>
              <a:rPr sz="1400" dirty="0">
                <a:solidFill>
                  <a:schemeClr val="tx1"/>
                </a:solidFill>
              </a:rPr>
            </a:br>
            <a:r>
              <a:rPr sz="1400" dirty="0">
                <a:solidFill>
                  <a:schemeClr val="tx1"/>
                </a:solidFill>
              </a:rPr>
              <a:t>• Deterministic (reproducible)</a:t>
            </a:r>
            <a:br>
              <a:rPr sz="1400" dirty="0">
                <a:solidFill>
                  <a:schemeClr val="tx1"/>
                </a:solidFill>
              </a:rPr>
            </a:br>
            <a:r>
              <a:rPr sz="1400" dirty="0">
                <a:solidFill>
                  <a:schemeClr val="tx1"/>
                </a:solidFill>
              </a:rPr>
              <a:t>• Modular (testable)</a:t>
            </a:r>
            <a:br>
              <a:rPr sz="1400" dirty="0">
                <a:solidFill>
                  <a:schemeClr val="tx1"/>
                </a:solidFill>
              </a:rPr>
            </a:br>
            <a:r>
              <a:rPr sz="1400" dirty="0">
                <a:solidFill>
                  <a:schemeClr val="tx1"/>
                </a:solidFill>
              </a:rPr>
              <a:t>• Interpretable (full traces)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383</Words>
  <Application>Microsoft Office PowerPoint</Application>
  <PresentationFormat>On-screen Show (4:3)</PresentationFormat>
  <Paragraphs>27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V, Akshay</cp:lastModifiedBy>
  <cp:revision>3</cp:revision>
  <dcterms:created xsi:type="dcterms:W3CDTF">2013-01-27T09:14:16Z</dcterms:created>
  <dcterms:modified xsi:type="dcterms:W3CDTF">2026-04-16T00:59:13Z</dcterms:modified>
  <cp:category/>
</cp:coreProperties>
</file>